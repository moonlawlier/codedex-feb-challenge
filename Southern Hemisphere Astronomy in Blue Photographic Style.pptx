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18288000" cy="10287000"/>
  <p:notesSz cx="6858000" cy="9144000"/>
  <p:embeddedFontLst>
    <p:embeddedFont>
      <p:font typeface="Hit and Run" charset="1" panose="00000500000000000000"/>
      <p:regular r:id="rId45"/>
    </p:embeddedFont>
    <p:embeddedFont>
      <p:font typeface="Glacial Indifference" charset="1" panose="00000000000000000000"/>
      <p:regular r:id="rId46"/>
    </p:embeddedFont>
    <p:embeddedFont>
      <p:font typeface="Times New Roman MT Condensed" charset="1" panose="02030506070405020303"/>
      <p:regular r:id="rId47"/>
    </p:embeddedFont>
    <p:embeddedFont>
      <p:font typeface="Times New Roman MT Condensed Bold" charset="1" panose="02030806070405020303"/>
      <p:regular r:id="rId48"/>
    </p:embeddedFont>
    <p:embeddedFont>
      <p:font typeface="Times New Roman" charset="1" panose="02020603050405020304"/>
      <p:regular r:id="rId49"/>
    </p:embeddedFont>
    <p:embeddedFont>
      <p:font typeface="Times New Roman Bold" charset="1" panose="02020803070505020304"/>
      <p:regular r:id="rId50"/>
    </p:embeddedFont>
    <p:embeddedFont>
      <p:font typeface="Aloja" charset="1" panose="02000500000000000000"/>
      <p:regular r:id="rId51"/>
    </p:embeddedFont>
    <p:embeddedFont>
      <p:font typeface="Fredoka" charset="1" panose="02000000000000000000"/>
      <p:regular r:id="rId52"/>
    </p:embeddedFont>
    <p:embeddedFont>
      <p:font typeface="Shrikhand" charset="1" panose="02000000000000000000"/>
      <p:regular r:id="rId53"/>
    </p:embeddedFont>
    <p:embeddedFont>
      <p:font typeface="Moontime" charset="1" panose="00000000000000000000"/>
      <p:regular r:id="rId5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VAG2CkbDGT4.mp4" Type="http://schemas.openxmlformats.org/officeDocument/2006/relationships/video"/><Relationship Id="rId4" Target="../media/VAG2CkbDGT4.mp4" Type="http://schemas.microsoft.com/office/2007/relationships/media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gif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VAGy5UEISYE.mp4" Type="http://schemas.openxmlformats.org/officeDocument/2006/relationships/video"/><Relationship Id="rId5" Target="../media/VAGy5UEISYE.mp4" Type="http://schemas.microsoft.com/office/2007/relationships/media"/><Relationship Id="rId6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VAGy5UEISYE.mp4" Type="http://schemas.openxmlformats.org/officeDocument/2006/relationships/video"/><Relationship Id="rId5" Target="../media/VAGy5UEISYE.mp4" Type="http://schemas.microsoft.com/office/2007/relationships/media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VAGy5UEISYE.mp4" Type="http://schemas.openxmlformats.org/officeDocument/2006/relationships/video"/><Relationship Id="rId5" Target="../media/VAGy5UEISYE.mp4" Type="http://schemas.microsoft.com/office/2007/relationships/media"/><Relationship Id="rId6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VAGy5UEISYE.mp4" Type="http://schemas.openxmlformats.org/officeDocument/2006/relationships/video"/><Relationship Id="rId5" Target="../media/VAGy5UEISYE.mp4" Type="http://schemas.microsoft.com/office/2007/relationships/media"/><Relationship Id="rId6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5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256123" y="6619875"/>
            <a:ext cx="8384422" cy="0"/>
          </a:xfrm>
          <a:prstGeom prst="line">
            <a:avLst/>
          </a:prstGeom>
          <a:ln cap="flat" w="104775">
            <a:solidFill>
              <a:srgbClr val="001931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3734" r="0" b="3734"/>
          <a:stretch>
            <a:fillRect/>
          </a:stretch>
        </p:blipFill>
        <p:spPr>
          <a:xfrm flipH="false" flipV="false" rot="0">
            <a:off x="0" y="0"/>
            <a:ext cx="19764267" cy="1042416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9377373" y="3184648"/>
            <a:ext cx="7767627" cy="249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55"/>
              </a:lnSpc>
            </a:pPr>
            <a:r>
              <a:rPr lang="en-US" sz="8212" spc="451">
                <a:solidFill>
                  <a:srgbClr val="FFFFFF"/>
                </a:solidFill>
                <a:latin typeface="Hit and Run"/>
                <a:ea typeface="Hit and Run"/>
                <a:cs typeface="Hit and Run"/>
                <a:sym typeface="Hit and Run"/>
              </a:rPr>
              <a:t>DiD venus had life?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77373" y="6722033"/>
            <a:ext cx="7767627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Exploring the proof of life’s possibility on Venus!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3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27748" y="1028700"/>
            <a:ext cx="1474216" cy="926650"/>
          </a:xfrm>
          <a:custGeom>
            <a:avLst/>
            <a:gdLst/>
            <a:ahLst/>
            <a:cxnLst/>
            <a:rect r="r" b="b" t="t" l="l"/>
            <a:pathLst>
              <a:path h="926650" w="1474216">
                <a:moveTo>
                  <a:pt x="0" y="0"/>
                </a:moveTo>
                <a:lnTo>
                  <a:pt x="1474216" y="0"/>
                </a:lnTo>
                <a:lnTo>
                  <a:pt x="1474216" y="926650"/>
                </a:lnTo>
                <a:lnTo>
                  <a:pt x="0" y="926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638754"/>
            <a:ext cx="1750151" cy="1706543"/>
          </a:xfrm>
          <a:custGeom>
            <a:avLst/>
            <a:gdLst/>
            <a:ahLst/>
            <a:cxnLst/>
            <a:rect r="r" b="b" t="t" l="l"/>
            <a:pathLst>
              <a:path h="1706543" w="1750151">
                <a:moveTo>
                  <a:pt x="0" y="0"/>
                </a:moveTo>
                <a:lnTo>
                  <a:pt x="1750151" y="0"/>
                </a:lnTo>
                <a:lnTo>
                  <a:pt x="1750151" y="1706543"/>
                </a:lnTo>
                <a:lnTo>
                  <a:pt x="0" y="17065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52251" t="-173317" r="-437969" b="-168435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-8100000">
            <a:off x="10388499" y="1614751"/>
            <a:ext cx="1897082" cy="1830685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2814939" y="1812475"/>
            <a:ext cx="3239333" cy="126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6"/>
              </a:lnSpc>
              <a:spcBef>
                <a:spcPct val="0"/>
              </a:spcBef>
            </a:pPr>
            <a:r>
              <a:rPr lang="en-US" sz="7397">
                <a:solidFill>
                  <a:srgbClr val="FFFFFF"/>
                </a:solidFill>
                <a:latin typeface="Hit and Run"/>
                <a:ea typeface="Hit and Run"/>
                <a:cs typeface="Hit and Run"/>
                <a:sym typeface="Hit and Run"/>
              </a:rPr>
              <a:t>VENUS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24585" t="5882" r="0" b="5882"/>
          <a:stretch>
            <a:fillRect/>
          </a:stretch>
        </p:blipFill>
        <p:spPr>
          <a:xfrm flipH="false" flipV="false" rot="0">
            <a:off x="8040055" y="0"/>
            <a:ext cx="15334371" cy="10226488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-11160523" y="-760210"/>
            <a:ext cx="19639485" cy="11047210"/>
          </a:xfrm>
          <a:custGeom>
            <a:avLst/>
            <a:gdLst/>
            <a:ahLst/>
            <a:cxnLst/>
            <a:rect r="r" b="b" t="t" l="l"/>
            <a:pathLst>
              <a:path h="11047210" w="19639485">
                <a:moveTo>
                  <a:pt x="0" y="0"/>
                </a:moveTo>
                <a:lnTo>
                  <a:pt x="19639485" y="0"/>
                </a:lnTo>
                <a:lnTo>
                  <a:pt x="19639485" y="11047210"/>
                </a:lnTo>
                <a:lnTo>
                  <a:pt x="0" y="110472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86771" y="580780"/>
            <a:ext cx="7253283" cy="4182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2"/>
              </a:lnSpc>
              <a:spcBef>
                <a:spcPct val="0"/>
              </a:spcBef>
            </a:pPr>
            <a:r>
              <a:rPr lang="en-US" sz="473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We always thought that this big fireball which even though is a planet, is still called “The Morning Star” because 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24585" t="5882" r="0" b="5882"/>
          <a:stretch>
            <a:fillRect/>
          </a:stretch>
        </p:blipFill>
        <p:spPr>
          <a:xfrm flipH="false" flipV="false" rot="0">
            <a:off x="8040055" y="0"/>
            <a:ext cx="15334371" cy="10226488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-11160523" y="-760210"/>
            <a:ext cx="19377778" cy="11047210"/>
          </a:xfrm>
          <a:custGeom>
            <a:avLst/>
            <a:gdLst/>
            <a:ahLst/>
            <a:cxnLst/>
            <a:rect r="r" b="b" t="t" l="l"/>
            <a:pathLst>
              <a:path h="11047210" w="19377778">
                <a:moveTo>
                  <a:pt x="0" y="0"/>
                </a:moveTo>
                <a:lnTo>
                  <a:pt x="19377778" y="0"/>
                </a:lnTo>
                <a:lnTo>
                  <a:pt x="19377778" y="11047210"/>
                </a:lnTo>
                <a:lnTo>
                  <a:pt x="0" y="110472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35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86771" y="580780"/>
            <a:ext cx="7253283" cy="4182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2"/>
              </a:lnSpc>
              <a:spcBef>
                <a:spcPct val="0"/>
              </a:spcBef>
            </a:pPr>
            <a:r>
              <a:rPr lang="en-US" sz="473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We always thought that this big fireball which even though is a planet, is still called “The Morning Star” because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29791" y="5464046"/>
            <a:ext cx="1767245" cy="126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6"/>
              </a:lnSpc>
              <a:spcBef>
                <a:spcPct val="0"/>
              </a:spcBef>
            </a:pPr>
            <a:r>
              <a:rPr lang="en-US" sz="739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  .  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24585" t="5882" r="0" b="5882"/>
          <a:stretch>
            <a:fillRect/>
          </a:stretch>
        </p:blipFill>
        <p:spPr>
          <a:xfrm flipH="false" flipV="false" rot="0">
            <a:off x="8040055" y="0"/>
            <a:ext cx="15334371" cy="10226488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-11160523" y="-760210"/>
            <a:ext cx="19377778" cy="11047210"/>
          </a:xfrm>
          <a:custGeom>
            <a:avLst/>
            <a:gdLst/>
            <a:ahLst/>
            <a:cxnLst/>
            <a:rect r="r" b="b" t="t" l="l"/>
            <a:pathLst>
              <a:path h="11047210" w="19377778">
                <a:moveTo>
                  <a:pt x="0" y="0"/>
                </a:moveTo>
                <a:lnTo>
                  <a:pt x="19377778" y="0"/>
                </a:lnTo>
                <a:lnTo>
                  <a:pt x="19377778" y="11047210"/>
                </a:lnTo>
                <a:lnTo>
                  <a:pt x="0" y="110472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35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86771" y="580780"/>
            <a:ext cx="7253283" cy="4182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2"/>
              </a:lnSpc>
              <a:spcBef>
                <a:spcPct val="0"/>
              </a:spcBef>
            </a:pPr>
            <a:r>
              <a:rPr lang="en-US" sz="473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We always thought that this big fireball which even though is a planet, is still called “The Morning Star” because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29791" y="4970369"/>
            <a:ext cx="1767245" cy="126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6"/>
              </a:lnSpc>
              <a:spcBef>
                <a:spcPct val="0"/>
              </a:spcBef>
            </a:pPr>
            <a:r>
              <a:rPr lang="en-US" sz="739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  .  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5028" y="6449342"/>
            <a:ext cx="5659398" cy="126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6"/>
              </a:lnSpc>
              <a:spcBef>
                <a:spcPct val="0"/>
              </a:spcBef>
            </a:pPr>
            <a:r>
              <a:rPr lang="en-US" sz="739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It is a Fireball!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24585" t="5882" r="0" b="5882"/>
          <a:stretch>
            <a:fillRect/>
          </a:stretch>
        </p:blipFill>
        <p:spPr>
          <a:xfrm flipH="false" flipV="false" rot="0">
            <a:off x="8040055" y="0"/>
            <a:ext cx="15334371" cy="10226488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-11160523" y="-760210"/>
            <a:ext cx="19377778" cy="11047210"/>
          </a:xfrm>
          <a:custGeom>
            <a:avLst/>
            <a:gdLst/>
            <a:ahLst/>
            <a:cxnLst/>
            <a:rect r="r" b="b" t="t" l="l"/>
            <a:pathLst>
              <a:path h="11047210" w="19377778">
                <a:moveTo>
                  <a:pt x="0" y="0"/>
                </a:moveTo>
                <a:lnTo>
                  <a:pt x="19377778" y="0"/>
                </a:lnTo>
                <a:lnTo>
                  <a:pt x="19377778" y="11047210"/>
                </a:lnTo>
                <a:lnTo>
                  <a:pt x="0" y="110472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35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86771" y="580780"/>
            <a:ext cx="7253283" cy="4182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2"/>
              </a:lnSpc>
              <a:spcBef>
                <a:spcPct val="0"/>
              </a:spcBef>
            </a:pPr>
            <a:r>
              <a:rPr lang="en-US" sz="473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We always thought that this big fireball which even though is a planet, is still called “The Morning Star” because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29791" y="4970369"/>
            <a:ext cx="1767245" cy="126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6"/>
              </a:lnSpc>
              <a:spcBef>
                <a:spcPct val="0"/>
              </a:spcBef>
            </a:pPr>
            <a:r>
              <a:rPr lang="en-US" sz="739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  .  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5028" y="6449342"/>
            <a:ext cx="5659398" cy="126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6"/>
              </a:lnSpc>
              <a:spcBef>
                <a:spcPct val="0"/>
              </a:spcBef>
            </a:pPr>
            <a:r>
              <a:rPr lang="en-US" sz="739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It is a Fireball!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4287" y="7594940"/>
            <a:ext cx="6615768" cy="2256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48"/>
              </a:lnSpc>
            </a:pPr>
            <a:r>
              <a:rPr lang="en-US" sz="646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What? </a:t>
            </a:r>
          </a:p>
          <a:p>
            <a:pPr algn="ctr">
              <a:lnSpc>
                <a:spcPts val="9048"/>
              </a:lnSpc>
              <a:spcBef>
                <a:spcPct val="0"/>
              </a:spcBef>
            </a:pPr>
            <a:r>
              <a:rPr lang="en-US" sz="646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You don’t see fire?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3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256123" y="5744843"/>
            <a:ext cx="8384422" cy="0"/>
          </a:xfrm>
          <a:prstGeom prst="line">
            <a:avLst/>
          </a:prstGeom>
          <a:ln cap="flat" w="104775">
            <a:solidFill>
              <a:srgbClr val="1314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626173" cy="10287000"/>
          </a:xfrm>
          <a:custGeom>
            <a:avLst/>
            <a:gdLst/>
            <a:ahLst/>
            <a:cxnLst/>
            <a:rect r="r" b="b" t="t" l="l"/>
            <a:pathLst>
              <a:path h="10287000" w="18626173">
                <a:moveTo>
                  <a:pt x="0" y="0"/>
                </a:moveTo>
                <a:lnTo>
                  <a:pt x="18626173" y="0"/>
                </a:lnTo>
                <a:lnTo>
                  <a:pt x="1862617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28" t="0" r="-5228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29273" y="4743450"/>
            <a:ext cx="7767627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80"/>
              </a:lnSpc>
            </a:pPr>
            <a:r>
              <a:rPr lang="en-US" sz="5150" spc="437">
                <a:solidFill>
                  <a:srgbClr val="FFFFFF"/>
                </a:solidFill>
                <a:latin typeface="Hit and Run"/>
                <a:ea typeface="Hit and Run"/>
                <a:cs typeface="Hit and Run"/>
                <a:sym typeface="Hit and Run"/>
              </a:rPr>
              <a:t>you see it now?</a:t>
            </a:r>
          </a:p>
        </p:txBody>
      </p:sp>
    </p:spTree>
  </p:cSld>
  <p:clrMapOvr>
    <a:masterClrMapping/>
  </p:clrMapOvr>
  <p:transition spd="slow">
    <p:circl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3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256123" y="5744843"/>
            <a:ext cx="8384422" cy="0"/>
          </a:xfrm>
          <a:prstGeom prst="line">
            <a:avLst/>
          </a:prstGeom>
          <a:ln cap="flat" w="104775">
            <a:solidFill>
              <a:srgbClr val="1314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626173" cy="10287000"/>
          </a:xfrm>
          <a:custGeom>
            <a:avLst/>
            <a:gdLst/>
            <a:ahLst/>
            <a:cxnLst/>
            <a:rect r="r" b="b" t="t" l="l"/>
            <a:pathLst>
              <a:path h="10287000" w="18626173">
                <a:moveTo>
                  <a:pt x="0" y="0"/>
                </a:moveTo>
                <a:lnTo>
                  <a:pt x="18626173" y="0"/>
                </a:lnTo>
                <a:lnTo>
                  <a:pt x="1862617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28" t="0" r="-5228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19748" y="4954268"/>
            <a:ext cx="7767627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80"/>
              </a:lnSpc>
            </a:pPr>
            <a:r>
              <a:rPr lang="en-US" sz="5150" spc="437">
                <a:solidFill>
                  <a:srgbClr val="FFFFFF"/>
                </a:solidFill>
                <a:latin typeface="Hit and Run"/>
                <a:ea typeface="Hit and Run"/>
                <a:cs typeface="Hit and Run"/>
                <a:sym typeface="Hit and Run"/>
              </a:rPr>
              <a:t>you see it now?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85420" y="6017126"/>
            <a:ext cx="9341406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80"/>
              </a:lnSpc>
              <a:spcBef>
                <a:spcPct val="0"/>
              </a:spcBef>
            </a:pPr>
            <a:r>
              <a:rPr lang="en-US" sz="5150" spc="437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Welcome t</a:t>
            </a:r>
            <a:r>
              <a:rPr lang="en-US" sz="5150" spc="437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o the Surface of Venus 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3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256123" y="5744843"/>
            <a:ext cx="8384422" cy="0"/>
          </a:xfrm>
          <a:prstGeom prst="line">
            <a:avLst/>
          </a:prstGeom>
          <a:ln cap="flat" w="104775">
            <a:solidFill>
              <a:srgbClr val="1314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626173" cy="10287000"/>
          </a:xfrm>
          <a:custGeom>
            <a:avLst/>
            <a:gdLst/>
            <a:ahLst/>
            <a:cxnLst/>
            <a:rect r="r" b="b" t="t" l="l"/>
            <a:pathLst>
              <a:path h="10287000" w="18626173">
                <a:moveTo>
                  <a:pt x="0" y="0"/>
                </a:moveTo>
                <a:lnTo>
                  <a:pt x="18626173" y="0"/>
                </a:lnTo>
                <a:lnTo>
                  <a:pt x="1862617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28" t="0" r="-5228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29273" y="4743450"/>
            <a:ext cx="7767627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80"/>
              </a:lnSpc>
            </a:pPr>
            <a:r>
              <a:rPr lang="en-US" sz="5150" spc="437">
                <a:solidFill>
                  <a:srgbClr val="FFFFFF"/>
                </a:solidFill>
                <a:latin typeface="Hit and Run"/>
                <a:ea typeface="Hit and Run"/>
                <a:cs typeface="Hit and Run"/>
                <a:sym typeface="Hit and Run"/>
              </a:rPr>
              <a:t>you see it now?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45586" y="6018463"/>
            <a:ext cx="9535001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80"/>
              </a:lnSpc>
              <a:spcBef>
                <a:spcPct val="0"/>
              </a:spcBef>
            </a:pPr>
            <a:r>
              <a:rPr lang="en-US" b="true" sz="5150" spc="437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Welcome t</a:t>
            </a:r>
            <a:r>
              <a:rPr lang="en-US" b="true" sz="5150" spc="437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o the Surface of Venus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22620" y="7390063"/>
            <a:ext cx="5380932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80"/>
              </a:lnSpc>
              <a:spcBef>
                <a:spcPct val="0"/>
              </a:spcBef>
            </a:pPr>
            <a:r>
              <a:rPr lang="en-US" b="true" sz="5150" spc="437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of Today that is!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-140732"/>
            <a:ext cx="8610600" cy="8001000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0" y="885776"/>
            <a:ext cx="8305800" cy="8229600"/>
            <a:chOff x="0" y="0"/>
            <a:chExt cx="820326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0326" cy="812800"/>
            </a:xfrm>
            <a:custGeom>
              <a:avLst/>
              <a:gdLst/>
              <a:ahLst/>
              <a:cxnLst/>
              <a:rect r="r" b="b" t="t" l="l"/>
              <a:pathLst>
                <a:path h="812800" w="820326">
                  <a:moveTo>
                    <a:pt x="0" y="0"/>
                  </a:moveTo>
                  <a:lnTo>
                    <a:pt x="820326" y="0"/>
                  </a:lnTo>
                  <a:lnTo>
                    <a:pt x="820326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0" t="-462" r="0" b="-462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362452" y="1028700"/>
            <a:ext cx="5648709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</a:pPr>
            <a:r>
              <a:rPr lang="en-US" sz="3499">
                <a:solidFill>
                  <a:srgbClr val="FFFFFF"/>
                </a:solidFill>
                <a:latin typeface="Hit and Run"/>
                <a:ea typeface="Hit and Run"/>
                <a:cs typeface="Hit and Run"/>
                <a:sym typeface="Hit and Run"/>
              </a:rPr>
              <a:t>How can someone imagine a life in this hellish place !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-140732"/>
            <a:ext cx="8610600" cy="8001000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0" y="885776"/>
            <a:ext cx="8305800" cy="8229600"/>
            <a:chOff x="0" y="0"/>
            <a:chExt cx="820326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0326" cy="812800"/>
            </a:xfrm>
            <a:custGeom>
              <a:avLst/>
              <a:gdLst/>
              <a:ahLst/>
              <a:cxnLst/>
              <a:rect r="r" b="b" t="t" l="l"/>
              <a:pathLst>
                <a:path h="812800" w="820326">
                  <a:moveTo>
                    <a:pt x="0" y="0"/>
                  </a:moveTo>
                  <a:lnTo>
                    <a:pt x="820326" y="0"/>
                  </a:lnTo>
                  <a:lnTo>
                    <a:pt x="820326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0" t="-462" r="0" b="-462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362452" y="1028700"/>
            <a:ext cx="5648709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</a:pPr>
            <a:r>
              <a:rPr lang="en-US" sz="3499">
                <a:solidFill>
                  <a:srgbClr val="FFFFFF"/>
                </a:solidFill>
                <a:latin typeface="Hit and Run"/>
                <a:ea typeface="Hit and Run"/>
                <a:cs typeface="Hit and Run"/>
                <a:sym typeface="Hit and Run"/>
              </a:rPr>
              <a:t>How can someone imagine a life in this hellish place 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62452" y="3578781"/>
            <a:ext cx="564870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 the Scientists can!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-140732"/>
            <a:ext cx="8610600" cy="8001000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0" y="885776"/>
            <a:ext cx="8305800" cy="8229600"/>
            <a:chOff x="0" y="0"/>
            <a:chExt cx="820326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0326" cy="812800"/>
            </a:xfrm>
            <a:custGeom>
              <a:avLst/>
              <a:gdLst/>
              <a:ahLst/>
              <a:cxnLst/>
              <a:rect r="r" b="b" t="t" l="l"/>
              <a:pathLst>
                <a:path h="812800" w="820326">
                  <a:moveTo>
                    <a:pt x="0" y="0"/>
                  </a:moveTo>
                  <a:lnTo>
                    <a:pt x="820326" y="0"/>
                  </a:lnTo>
                  <a:lnTo>
                    <a:pt x="820326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0" t="-462" r="0" b="-462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362452" y="1028700"/>
            <a:ext cx="5648709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</a:pPr>
            <a:r>
              <a:rPr lang="en-US" sz="3499">
                <a:solidFill>
                  <a:srgbClr val="FFFFFF"/>
                </a:solidFill>
                <a:latin typeface="Hit and Run"/>
                <a:ea typeface="Hit and Run"/>
                <a:cs typeface="Hit and Run"/>
                <a:sym typeface="Hit and Run"/>
              </a:rPr>
              <a:t>How can someone imagine a life in this hellish place 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62452" y="3578781"/>
            <a:ext cx="564870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 the Scientists can!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62452" y="4720901"/>
            <a:ext cx="5648709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Astronomy Enthusiasts L</a:t>
            </a:r>
            <a:r>
              <a:rPr lang="en-US" sz="3499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ike Me</a:t>
            </a: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ctr" marL="0" indent="0" lvl="0">
              <a:lnSpc>
                <a:spcPts val="41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can!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-140732"/>
            <a:ext cx="8610600" cy="8001000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0" y="885776"/>
            <a:ext cx="8305800" cy="8229600"/>
            <a:chOff x="0" y="0"/>
            <a:chExt cx="820326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0326" cy="812800"/>
            </a:xfrm>
            <a:custGeom>
              <a:avLst/>
              <a:gdLst/>
              <a:ahLst/>
              <a:cxnLst/>
              <a:rect r="r" b="b" t="t" l="l"/>
              <a:pathLst>
                <a:path h="812800" w="820326">
                  <a:moveTo>
                    <a:pt x="0" y="0"/>
                  </a:moveTo>
                  <a:lnTo>
                    <a:pt x="820326" y="0"/>
                  </a:lnTo>
                  <a:lnTo>
                    <a:pt x="820326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0" t="-462" r="0" b="-462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362452" y="3054906"/>
            <a:ext cx="5648709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I am one of those people who support the hypothesis that life was present on Venus 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-140732"/>
            <a:ext cx="8610600" cy="8001000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0" y="885776"/>
            <a:ext cx="8305800" cy="8229600"/>
            <a:chOff x="0" y="0"/>
            <a:chExt cx="820326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0326" cy="812800"/>
            </a:xfrm>
            <a:custGeom>
              <a:avLst/>
              <a:gdLst/>
              <a:ahLst/>
              <a:cxnLst/>
              <a:rect r="r" b="b" t="t" l="l"/>
              <a:pathLst>
                <a:path h="812800" w="820326">
                  <a:moveTo>
                    <a:pt x="0" y="0"/>
                  </a:moveTo>
                  <a:lnTo>
                    <a:pt x="820326" y="0"/>
                  </a:lnTo>
                  <a:lnTo>
                    <a:pt x="820326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0" t="-462" r="0" b="-462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362452" y="3054906"/>
            <a:ext cx="5648709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I am one of those people who support the hypothesis that life was present on Venus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62452" y="5505401"/>
            <a:ext cx="564870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 BEFORE EARTH!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-140732"/>
            <a:ext cx="8610600" cy="8001000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0" y="885776"/>
            <a:ext cx="8305800" cy="8229600"/>
            <a:chOff x="0" y="0"/>
            <a:chExt cx="820326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0326" cy="812800"/>
            </a:xfrm>
            <a:custGeom>
              <a:avLst/>
              <a:gdLst/>
              <a:ahLst/>
              <a:cxnLst/>
              <a:rect r="r" b="b" t="t" l="l"/>
              <a:pathLst>
                <a:path h="812800" w="820326">
                  <a:moveTo>
                    <a:pt x="0" y="0"/>
                  </a:moveTo>
                  <a:lnTo>
                    <a:pt x="820326" y="0"/>
                  </a:lnTo>
                  <a:lnTo>
                    <a:pt x="820326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0" t="-462" r="0" b="-462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362452" y="3054906"/>
            <a:ext cx="5648709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I am one of those people who support the hypothesis that life was present on Venus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62452" y="5505401"/>
            <a:ext cx="564870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 BEFORE EARTH!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62452" y="6643771"/>
            <a:ext cx="5648709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I wanted to put this same hypothesis in front of all through this challenge 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-140732"/>
            <a:ext cx="8610600" cy="8001000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465174" y="4229100"/>
            <a:ext cx="9357653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57"/>
              </a:lnSpc>
            </a:pPr>
            <a:r>
              <a:rPr lang="en-US" b="true" sz="579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BUT THEN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-140732"/>
            <a:ext cx="8610600" cy="8001000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465174" y="4229100"/>
            <a:ext cx="9357653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57"/>
              </a:lnSpc>
            </a:pPr>
            <a:r>
              <a:rPr lang="en-US" b="true" sz="579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BUT THEN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465174" y="5029200"/>
            <a:ext cx="9357653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57"/>
              </a:lnSpc>
            </a:pPr>
            <a:r>
              <a:rPr lang="en-US" sz="5798">
                <a:solidFill>
                  <a:srgbClr val="EFBA57"/>
                </a:solidFill>
                <a:latin typeface="Aloja"/>
                <a:ea typeface="Aloja"/>
                <a:cs typeface="Aloja"/>
                <a:sym typeface="Aloja"/>
              </a:rPr>
              <a:t>Life Happened !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-140732"/>
            <a:ext cx="8610600" cy="8001000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425352" y="1028700"/>
            <a:ext cx="15437296" cy="350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57"/>
              </a:lnSpc>
            </a:pPr>
            <a:r>
              <a:rPr lang="en-US" sz="5798">
                <a:solidFill>
                  <a:srgbClr val="DA8D36"/>
                </a:solidFill>
                <a:latin typeface="Fredoka"/>
                <a:ea typeface="Fredoka"/>
                <a:cs typeface="Fredoka"/>
                <a:sym typeface="Fredoka"/>
              </a:rPr>
              <a:t>I did not find a single dataset that could showcase the data between modern Venus, modern Earth, previous Venus, and previous Earth!</a:t>
            </a: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-140732"/>
            <a:ext cx="8610600" cy="8001000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425352" y="1028700"/>
            <a:ext cx="15437296" cy="350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57"/>
              </a:lnSpc>
            </a:pPr>
            <a:r>
              <a:rPr lang="en-US" sz="5798">
                <a:solidFill>
                  <a:srgbClr val="DA8D36"/>
                </a:solidFill>
                <a:latin typeface="Fredoka"/>
                <a:ea typeface="Fredoka"/>
                <a:cs typeface="Fredoka"/>
                <a:sym typeface="Fredoka"/>
              </a:rPr>
              <a:t>I did not find a single dataset that could showcase the data between modern Venus, modern Earth, previous Venus, and previous Earth!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5914" y="5410200"/>
            <a:ext cx="15437296" cy="175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7"/>
              </a:lnSpc>
            </a:pPr>
            <a:r>
              <a:rPr lang="en-US" sz="5798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So </a:t>
            </a:r>
          </a:p>
          <a:p>
            <a:pPr algn="ctr" marL="0" indent="0" lvl="0">
              <a:lnSpc>
                <a:spcPts val="6957"/>
              </a:lnSpc>
            </a:pPr>
            <a:r>
              <a:rPr lang="en-US" sz="5798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What did I do?</a:t>
            </a: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-140732"/>
            <a:ext cx="8610600" cy="8001000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425352" y="1028700"/>
            <a:ext cx="15437296" cy="350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57"/>
              </a:lnSpc>
            </a:pPr>
            <a:r>
              <a:rPr lang="en-US" sz="5798">
                <a:solidFill>
                  <a:srgbClr val="DA8D36"/>
                </a:solidFill>
                <a:latin typeface="Fredoka"/>
                <a:ea typeface="Fredoka"/>
                <a:cs typeface="Fredoka"/>
                <a:sym typeface="Fredoka"/>
              </a:rPr>
              <a:t>I did not find a single dataset that could showcase the data between modern Venus, modern Earth, previous Venus, and previous Earth!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5914" y="5410200"/>
            <a:ext cx="15437296" cy="175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7"/>
              </a:lnSpc>
            </a:pPr>
            <a:r>
              <a:rPr lang="en-US" sz="5798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So </a:t>
            </a:r>
          </a:p>
          <a:p>
            <a:pPr algn="ctr" marL="0" indent="0" lvl="0">
              <a:lnSpc>
                <a:spcPts val="6957"/>
              </a:lnSpc>
            </a:pPr>
            <a:r>
              <a:rPr lang="en-US" sz="5798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What did I do?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90340" y="8033900"/>
            <a:ext cx="865305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57"/>
              </a:lnSpc>
            </a:pPr>
            <a:r>
              <a:rPr lang="en-US" sz="5798">
                <a:solidFill>
                  <a:srgbClr val="FFFFFF"/>
                </a:solidFill>
                <a:latin typeface="Shrikhand"/>
                <a:ea typeface="Shrikhand"/>
                <a:cs typeface="Shrikhand"/>
                <a:sym typeface="Shrikhand"/>
              </a:rPr>
              <a:t>I created one of </a:t>
            </a:r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-140732"/>
            <a:ext cx="8610600" cy="8001000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425352" y="1028700"/>
            <a:ext cx="15437296" cy="350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57"/>
              </a:lnSpc>
            </a:pPr>
            <a:r>
              <a:rPr lang="en-US" sz="5798">
                <a:solidFill>
                  <a:srgbClr val="DA8D36"/>
                </a:solidFill>
                <a:latin typeface="Fredoka"/>
                <a:ea typeface="Fredoka"/>
                <a:cs typeface="Fredoka"/>
                <a:sym typeface="Fredoka"/>
              </a:rPr>
              <a:t>I did not find a single dataset that could showcase the data between modern Venus, modern Earth, previous Venus, and previous Earth!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5914" y="5410200"/>
            <a:ext cx="15437296" cy="175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7"/>
              </a:lnSpc>
            </a:pPr>
            <a:r>
              <a:rPr lang="en-US" sz="5798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So </a:t>
            </a:r>
          </a:p>
          <a:p>
            <a:pPr algn="ctr" marL="0" indent="0" lvl="0">
              <a:lnSpc>
                <a:spcPts val="6957"/>
              </a:lnSpc>
            </a:pPr>
            <a:r>
              <a:rPr lang="en-US" sz="5798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What did I do?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90340" y="8033900"/>
            <a:ext cx="8656836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57"/>
              </a:lnSpc>
            </a:pPr>
            <a:r>
              <a:rPr lang="en-US" sz="5798">
                <a:solidFill>
                  <a:srgbClr val="FFFFFF"/>
                </a:solidFill>
                <a:latin typeface="Shrikhand"/>
                <a:ea typeface="Shrikhand"/>
                <a:cs typeface="Shrikhand"/>
                <a:sym typeface="Shrikhand"/>
              </a:rPr>
              <a:t>I created one of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875024" y="7254952"/>
            <a:ext cx="3444783" cy="2109192"/>
            <a:chOff x="0" y="0"/>
            <a:chExt cx="4593043" cy="28122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2532" cy="617959"/>
            </a:xfrm>
            <a:custGeom>
              <a:avLst/>
              <a:gdLst/>
              <a:ahLst/>
              <a:cxnLst/>
              <a:rect r="r" b="b" t="t" l="l"/>
              <a:pathLst>
                <a:path h="617959" w="712532">
                  <a:moveTo>
                    <a:pt x="0" y="0"/>
                  </a:moveTo>
                  <a:lnTo>
                    <a:pt x="712532" y="0"/>
                  </a:lnTo>
                  <a:lnTo>
                    <a:pt x="712532" y="617959"/>
                  </a:lnTo>
                  <a:lnTo>
                    <a:pt x="0" y="617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79494" y="308980"/>
              <a:ext cx="4220030" cy="1885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1226"/>
                </a:lnSpc>
              </a:pPr>
              <a:r>
                <a:rPr lang="en-US" sz="9355">
                  <a:solidFill>
                    <a:srgbClr val="FFFFFF"/>
                  </a:solidFill>
                  <a:latin typeface="Moontime"/>
                  <a:ea typeface="Moontime"/>
                  <a:cs typeface="Moontime"/>
                  <a:sym typeface="Moontime"/>
                </a:rPr>
                <a:t>My Own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true" flipV="false" rot="0">
              <a:off x="3880512" y="189129"/>
              <a:ext cx="712532" cy="617959"/>
            </a:xfrm>
            <a:custGeom>
              <a:avLst/>
              <a:gdLst/>
              <a:ahLst/>
              <a:cxnLst/>
              <a:rect r="r" b="b" t="t" l="l"/>
              <a:pathLst>
                <a:path h="617959" w="712532">
                  <a:moveTo>
                    <a:pt x="712531" y="0"/>
                  </a:moveTo>
                  <a:lnTo>
                    <a:pt x="0" y="0"/>
                  </a:lnTo>
                  <a:lnTo>
                    <a:pt x="0" y="617959"/>
                  </a:lnTo>
                  <a:lnTo>
                    <a:pt x="712531" y="617959"/>
                  </a:lnTo>
                  <a:lnTo>
                    <a:pt x="712531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true" flipV="true" rot="0">
              <a:off x="3167980" y="2053171"/>
              <a:ext cx="712532" cy="617959"/>
            </a:xfrm>
            <a:custGeom>
              <a:avLst/>
              <a:gdLst/>
              <a:ahLst/>
              <a:cxnLst/>
              <a:rect r="r" b="b" t="t" l="l"/>
              <a:pathLst>
                <a:path h="617959" w="712532">
                  <a:moveTo>
                    <a:pt x="712532" y="617959"/>
                  </a:moveTo>
                  <a:lnTo>
                    <a:pt x="0" y="617959"/>
                  </a:lnTo>
                  <a:lnTo>
                    <a:pt x="0" y="0"/>
                  </a:lnTo>
                  <a:lnTo>
                    <a:pt x="712532" y="0"/>
                  </a:lnTo>
                  <a:lnTo>
                    <a:pt x="712532" y="61795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true" rot="0">
              <a:off x="934900" y="2194297"/>
              <a:ext cx="712532" cy="617959"/>
            </a:xfrm>
            <a:custGeom>
              <a:avLst/>
              <a:gdLst/>
              <a:ahLst/>
              <a:cxnLst/>
              <a:rect r="r" b="b" t="t" l="l"/>
              <a:pathLst>
                <a:path h="617959" w="712532">
                  <a:moveTo>
                    <a:pt x="0" y="617959"/>
                  </a:moveTo>
                  <a:lnTo>
                    <a:pt x="712532" y="617959"/>
                  </a:lnTo>
                  <a:lnTo>
                    <a:pt x="712532" y="0"/>
                  </a:lnTo>
                  <a:lnTo>
                    <a:pt x="0" y="0"/>
                  </a:lnTo>
                  <a:lnTo>
                    <a:pt x="0" y="61795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slow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64097" y="2187684"/>
            <a:ext cx="13285844" cy="6576493"/>
          </a:xfrm>
          <a:custGeom>
            <a:avLst/>
            <a:gdLst/>
            <a:ahLst/>
            <a:cxnLst/>
            <a:rect r="r" b="b" t="t" l="l"/>
            <a:pathLst>
              <a:path h="6576493" w="13285844">
                <a:moveTo>
                  <a:pt x="0" y="0"/>
                </a:moveTo>
                <a:lnTo>
                  <a:pt x="13285844" y="0"/>
                </a:lnTo>
                <a:lnTo>
                  <a:pt x="13285844" y="6576493"/>
                </a:lnTo>
                <a:lnTo>
                  <a:pt x="0" y="65764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3034" y="789560"/>
            <a:ext cx="7230852" cy="1398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22"/>
              </a:lnSpc>
            </a:pPr>
            <a:r>
              <a:rPr lang="en-US" sz="5068" spc="278">
                <a:solidFill>
                  <a:srgbClr val="FFFFFF"/>
                </a:solidFill>
                <a:latin typeface="Hit and Run"/>
                <a:ea typeface="Hit and Run"/>
                <a:cs typeface="Hit and Run"/>
                <a:sym typeface="Hit and Run"/>
              </a:rPr>
              <a:t>Why called as twins?</a:t>
            </a:r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62162" y="510220"/>
            <a:ext cx="9103703" cy="8748080"/>
          </a:xfrm>
          <a:custGeom>
            <a:avLst/>
            <a:gdLst/>
            <a:ahLst/>
            <a:cxnLst/>
            <a:rect r="r" b="b" t="t" l="l"/>
            <a:pathLst>
              <a:path h="8748080" w="9103703">
                <a:moveTo>
                  <a:pt x="0" y="0"/>
                </a:moveTo>
                <a:lnTo>
                  <a:pt x="9103703" y="0"/>
                </a:lnTo>
                <a:lnTo>
                  <a:pt x="9103703" y="8748080"/>
                </a:lnTo>
                <a:lnTo>
                  <a:pt x="0" y="8748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9412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2903" y="1337638"/>
            <a:ext cx="7519305" cy="7611723"/>
          </a:xfrm>
          <a:custGeom>
            <a:avLst/>
            <a:gdLst/>
            <a:ahLst/>
            <a:cxnLst/>
            <a:rect r="r" b="b" t="t" l="l"/>
            <a:pathLst>
              <a:path h="7611723" w="7519305">
                <a:moveTo>
                  <a:pt x="0" y="0"/>
                </a:moveTo>
                <a:lnTo>
                  <a:pt x="7519305" y="0"/>
                </a:lnTo>
                <a:lnTo>
                  <a:pt x="7519305" y="7611724"/>
                </a:lnTo>
                <a:lnTo>
                  <a:pt x="0" y="76117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26702" b="0"/>
            </a:stretch>
          </a:blipFill>
        </p:spPr>
      </p:sp>
    </p:spTree>
  </p:cSld>
  <p:clrMapOvr>
    <a:masterClrMapping/>
  </p:clrMapOvr>
  <p:transition spd="med">
    <p:fade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64097" y="2187684"/>
            <a:ext cx="13285844" cy="6576493"/>
          </a:xfrm>
          <a:custGeom>
            <a:avLst/>
            <a:gdLst/>
            <a:ahLst/>
            <a:cxnLst/>
            <a:rect r="r" b="b" t="t" l="l"/>
            <a:pathLst>
              <a:path h="6576493" w="13285844">
                <a:moveTo>
                  <a:pt x="0" y="0"/>
                </a:moveTo>
                <a:lnTo>
                  <a:pt x="13285844" y="0"/>
                </a:lnTo>
                <a:lnTo>
                  <a:pt x="13285844" y="6576493"/>
                </a:lnTo>
                <a:lnTo>
                  <a:pt x="0" y="65764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1028700"/>
            <a:ext cx="8287039" cy="8229600"/>
          </a:xfrm>
          <a:custGeom>
            <a:avLst/>
            <a:gdLst/>
            <a:ahLst/>
            <a:cxnLst/>
            <a:rect r="r" b="b" t="t" l="l"/>
            <a:pathLst>
              <a:path h="8229600" w="8287039">
                <a:moveTo>
                  <a:pt x="0" y="0"/>
                </a:moveTo>
                <a:lnTo>
                  <a:pt x="8287039" y="0"/>
                </a:lnTo>
                <a:lnTo>
                  <a:pt x="828703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619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7650" y="1372995"/>
            <a:ext cx="7561251" cy="7543407"/>
          </a:xfrm>
          <a:custGeom>
            <a:avLst/>
            <a:gdLst/>
            <a:ahLst/>
            <a:cxnLst/>
            <a:rect r="r" b="b" t="t" l="l"/>
            <a:pathLst>
              <a:path h="7543407" w="7561251">
                <a:moveTo>
                  <a:pt x="0" y="0"/>
                </a:moveTo>
                <a:lnTo>
                  <a:pt x="7561251" y="0"/>
                </a:lnTo>
                <a:lnTo>
                  <a:pt x="7561251" y="7543407"/>
                </a:lnTo>
                <a:lnTo>
                  <a:pt x="0" y="75434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23421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66755" y="4162425"/>
            <a:ext cx="14954490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65"/>
              </a:lnSpc>
            </a:pPr>
            <a:r>
              <a:rPr lang="en-US" sz="6471" spc="355">
                <a:solidFill>
                  <a:srgbClr val="FFFFFF"/>
                </a:solidFill>
                <a:latin typeface="Hit and Run"/>
                <a:ea typeface="Hit and Run"/>
                <a:cs typeface="Hit and Run"/>
                <a:sym typeface="Hit and Run"/>
              </a:rPr>
              <a:t>Well, that was the picture of today!</a:t>
            </a:r>
          </a:p>
        </p:txBody>
      </p:sp>
    </p:spTree>
  </p:cSld>
  <p:clrMapOvr>
    <a:masterClrMapping/>
  </p:clrMapOvr>
  <p:transition spd="fast">
    <p:push dir="l"/>
  </p:transition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66755" y="4162425"/>
            <a:ext cx="14954490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65"/>
              </a:lnSpc>
            </a:pPr>
            <a:r>
              <a:rPr lang="en-US" sz="6471" spc="355">
                <a:solidFill>
                  <a:srgbClr val="FFFFFF"/>
                </a:solidFill>
                <a:latin typeface="Hit and Run"/>
                <a:ea typeface="Hit and Run"/>
                <a:cs typeface="Hit and Run"/>
                <a:sym typeface="Hit and Run"/>
              </a:rPr>
              <a:t>Well, that was the picture of today!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66755" y="6817535"/>
            <a:ext cx="14954490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65"/>
              </a:lnSpc>
            </a:pPr>
            <a:r>
              <a:rPr lang="en-US" sz="6471" spc="355">
                <a:solidFill>
                  <a:srgbClr val="FFFFFF"/>
                </a:solidFill>
                <a:latin typeface="Hit and Run"/>
                <a:ea typeface="Hit and Run"/>
                <a:cs typeface="Hit and Run"/>
                <a:sym typeface="Hit and Run"/>
              </a:rPr>
              <a:t>But Before they used to look like this </a:t>
            </a:r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01146"/>
            <a:ext cx="16397796" cy="165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16"/>
              </a:lnSpc>
            </a:pPr>
            <a:r>
              <a:rPr lang="en-US" sz="5430" spc="298">
                <a:solidFill>
                  <a:srgbClr val="FFFFFF"/>
                </a:solidFill>
                <a:latin typeface="Hit and Run"/>
                <a:ea typeface="Hit and Run"/>
                <a:cs typeface="Hit and Run"/>
                <a:sym typeface="Hit and Run"/>
              </a:rPr>
              <a:t>But Before they used to look like this </a:t>
            </a:r>
          </a:p>
        </p:txBody>
      </p:sp>
    </p:spTree>
  </p:cSld>
  <p:clrMapOvr>
    <a:masterClrMapping/>
  </p:clrMapOvr>
  <p:transition spd="fast">
    <p:fade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15271" y="3256726"/>
            <a:ext cx="5928729" cy="5260703"/>
          </a:xfrm>
          <a:custGeom>
            <a:avLst/>
            <a:gdLst/>
            <a:ahLst/>
            <a:cxnLst/>
            <a:rect r="r" b="b" t="t" l="l"/>
            <a:pathLst>
              <a:path h="5260703" w="5928729">
                <a:moveTo>
                  <a:pt x="0" y="0"/>
                </a:moveTo>
                <a:lnTo>
                  <a:pt x="5928729" y="0"/>
                </a:lnTo>
                <a:lnTo>
                  <a:pt x="5928729" y="5260703"/>
                </a:lnTo>
                <a:lnTo>
                  <a:pt x="0" y="5260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51220" y="3032801"/>
            <a:ext cx="5829342" cy="5870307"/>
          </a:xfrm>
          <a:custGeom>
            <a:avLst/>
            <a:gdLst/>
            <a:ahLst/>
            <a:cxnLst/>
            <a:rect r="r" b="b" t="t" l="l"/>
            <a:pathLst>
              <a:path h="5870307" w="5829342">
                <a:moveTo>
                  <a:pt x="0" y="0"/>
                </a:moveTo>
                <a:lnTo>
                  <a:pt x="5829342" y="0"/>
                </a:lnTo>
                <a:lnTo>
                  <a:pt x="5829342" y="5870307"/>
                </a:lnTo>
                <a:lnTo>
                  <a:pt x="0" y="58703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135" t="0" r="-38891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01146"/>
            <a:ext cx="16397796" cy="165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16"/>
              </a:lnSpc>
            </a:pPr>
            <a:r>
              <a:rPr lang="en-US" sz="5430" spc="298">
                <a:solidFill>
                  <a:srgbClr val="FFFFFF"/>
                </a:solidFill>
                <a:latin typeface="Hit and Run"/>
                <a:ea typeface="Hit and Run"/>
                <a:cs typeface="Hit and Run"/>
                <a:sym typeface="Hit and Run"/>
              </a:rPr>
              <a:t>But Before they used to look like this </a:t>
            </a:r>
          </a:p>
        </p:txBody>
      </p:sp>
    </p:spTree>
  </p:cSld>
  <p:clrMapOvr>
    <a:masterClrMapping/>
  </p:clrMapOvr>
  <p:transition spd="slow">
    <p:fade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15271" y="3256726"/>
            <a:ext cx="5928729" cy="5260703"/>
          </a:xfrm>
          <a:custGeom>
            <a:avLst/>
            <a:gdLst/>
            <a:ahLst/>
            <a:cxnLst/>
            <a:rect r="r" b="b" t="t" l="l"/>
            <a:pathLst>
              <a:path h="5260703" w="5928729">
                <a:moveTo>
                  <a:pt x="0" y="0"/>
                </a:moveTo>
                <a:lnTo>
                  <a:pt x="5928729" y="0"/>
                </a:lnTo>
                <a:lnTo>
                  <a:pt x="5928729" y="5260703"/>
                </a:lnTo>
                <a:lnTo>
                  <a:pt x="0" y="5260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51220" y="3032801"/>
            <a:ext cx="5829342" cy="5870307"/>
          </a:xfrm>
          <a:custGeom>
            <a:avLst/>
            <a:gdLst/>
            <a:ahLst/>
            <a:cxnLst/>
            <a:rect r="r" b="b" t="t" l="l"/>
            <a:pathLst>
              <a:path h="5870307" w="5829342">
                <a:moveTo>
                  <a:pt x="0" y="0"/>
                </a:moveTo>
                <a:lnTo>
                  <a:pt x="5829342" y="0"/>
                </a:lnTo>
                <a:lnTo>
                  <a:pt x="5829342" y="5870307"/>
                </a:lnTo>
                <a:lnTo>
                  <a:pt x="0" y="58703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135" t="0" r="-38891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01146"/>
            <a:ext cx="16397796" cy="165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16"/>
              </a:lnSpc>
            </a:pPr>
            <a:r>
              <a:rPr lang="en-US" sz="5430" spc="298">
                <a:solidFill>
                  <a:srgbClr val="FFFFFF"/>
                </a:solidFill>
                <a:latin typeface="Hit and Run"/>
                <a:ea typeface="Hit and Run"/>
                <a:cs typeface="Hit and Run"/>
                <a:sym typeface="Hit and Run"/>
              </a:rPr>
              <a:t>But Before they used to look like this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01888" y="8893583"/>
            <a:ext cx="16397796" cy="832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16"/>
              </a:lnSpc>
            </a:pPr>
            <a:r>
              <a:rPr lang="en-US" sz="5430" spc="298">
                <a:solidFill>
                  <a:srgbClr val="FFFFFF"/>
                </a:solidFill>
                <a:latin typeface="Hit and Run"/>
                <a:ea typeface="Hit and Run"/>
                <a:cs typeface="Hit and Run"/>
                <a:sym typeface="Hit and Run"/>
              </a:rPr>
              <a:t>Atleast according to simulations!</a:t>
            </a:r>
          </a:p>
        </p:txBody>
      </p:sp>
    </p:spTree>
  </p:cSld>
  <p:clrMapOvr>
    <a:masterClrMapping/>
  </p:clrMapOvr>
  <p:transition spd="slow">
    <p:fade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66413" y="1313782"/>
            <a:ext cx="8632064" cy="7659437"/>
          </a:xfrm>
          <a:custGeom>
            <a:avLst/>
            <a:gdLst/>
            <a:ahLst/>
            <a:cxnLst/>
            <a:rect r="r" b="b" t="t" l="l"/>
            <a:pathLst>
              <a:path h="7659437" w="8632064">
                <a:moveTo>
                  <a:pt x="0" y="0"/>
                </a:moveTo>
                <a:lnTo>
                  <a:pt x="8632064" y="0"/>
                </a:lnTo>
                <a:lnTo>
                  <a:pt x="8632064" y="7659436"/>
                </a:lnTo>
                <a:lnTo>
                  <a:pt x="0" y="7659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66413" y="1313782"/>
            <a:ext cx="8632064" cy="7659437"/>
          </a:xfrm>
          <a:custGeom>
            <a:avLst/>
            <a:gdLst/>
            <a:ahLst/>
            <a:cxnLst/>
            <a:rect r="r" b="b" t="t" l="l"/>
            <a:pathLst>
              <a:path h="7659437" w="8632064">
                <a:moveTo>
                  <a:pt x="0" y="0"/>
                </a:moveTo>
                <a:lnTo>
                  <a:pt x="8632064" y="0"/>
                </a:lnTo>
                <a:lnTo>
                  <a:pt x="8632064" y="7659436"/>
                </a:lnTo>
                <a:lnTo>
                  <a:pt x="0" y="7659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337" y="1304257"/>
            <a:ext cx="7217937" cy="832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16"/>
              </a:lnSpc>
            </a:pPr>
            <a:r>
              <a:rPr lang="en-US" sz="5430" spc="298">
                <a:solidFill>
                  <a:srgbClr val="FFFFFF"/>
                </a:solidFill>
                <a:latin typeface="Hit and Run"/>
                <a:ea typeface="Hit and Run"/>
                <a:cs typeface="Hit and Run"/>
                <a:sym typeface="Hit and Run"/>
              </a:rPr>
              <a:t>before’s Venus</a:t>
            </a:r>
          </a:p>
        </p:txBody>
      </p:sp>
    </p:spTree>
  </p:cSld>
  <p:clrMapOvr>
    <a:masterClrMapping/>
  </p:clrMapOvr>
  <p:transition spd="slow">
    <p:fade/>
  </p:transition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66413" y="1313782"/>
            <a:ext cx="8632064" cy="7659437"/>
          </a:xfrm>
          <a:custGeom>
            <a:avLst/>
            <a:gdLst/>
            <a:ahLst/>
            <a:cxnLst/>
            <a:rect r="r" b="b" t="t" l="l"/>
            <a:pathLst>
              <a:path h="7659437" w="8632064">
                <a:moveTo>
                  <a:pt x="0" y="0"/>
                </a:moveTo>
                <a:lnTo>
                  <a:pt x="8632064" y="0"/>
                </a:lnTo>
                <a:lnTo>
                  <a:pt x="8632064" y="7659436"/>
                </a:lnTo>
                <a:lnTo>
                  <a:pt x="0" y="7659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337" y="1304257"/>
            <a:ext cx="7217937" cy="832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16"/>
              </a:lnSpc>
            </a:pPr>
            <a:r>
              <a:rPr lang="en-US" sz="5430" spc="298">
                <a:solidFill>
                  <a:srgbClr val="FFFFFF"/>
                </a:solidFill>
                <a:latin typeface="Hit and Run"/>
                <a:ea typeface="Hit and Run"/>
                <a:cs typeface="Hit and Run"/>
                <a:sym typeface="Hit and Run"/>
              </a:rPr>
              <a:t>before’s Venus</a:t>
            </a:r>
          </a:p>
        </p:txBody>
      </p:sp>
    </p:spTree>
  </p:cSld>
  <p:clrMapOvr>
    <a:masterClrMapping/>
  </p:clrMapOvr>
  <p:transition spd="slow">
    <p:fade/>
  </p:transition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25642" y="2438064"/>
            <a:ext cx="4099326" cy="3637430"/>
          </a:xfrm>
          <a:custGeom>
            <a:avLst/>
            <a:gdLst/>
            <a:ahLst/>
            <a:cxnLst/>
            <a:rect r="r" b="b" t="t" l="l"/>
            <a:pathLst>
              <a:path h="3637430" w="4099326">
                <a:moveTo>
                  <a:pt x="0" y="0"/>
                </a:moveTo>
                <a:lnTo>
                  <a:pt x="4099327" y="0"/>
                </a:lnTo>
                <a:lnTo>
                  <a:pt x="4099327" y="3637431"/>
                </a:lnTo>
                <a:lnTo>
                  <a:pt x="0" y="3637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6376465"/>
            <a:ext cx="16230600" cy="3377561"/>
          </a:xfrm>
          <a:custGeom>
            <a:avLst/>
            <a:gdLst/>
            <a:ahLst/>
            <a:cxnLst/>
            <a:rect r="r" b="b" t="t" l="l"/>
            <a:pathLst>
              <a:path h="3377561" w="16230600">
                <a:moveTo>
                  <a:pt x="0" y="0"/>
                </a:moveTo>
                <a:lnTo>
                  <a:pt x="16230600" y="0"/>
                </a:lnTo>
                <a:lnTo>
                  <a:pt x="16230600" y="3377561"/>
                </a:lnTo>
                <a:lnTo>
                  <a:pt x="0" y="33775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1" t="0" r="-401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337" y="1304257"/>
            <a:ext cx="7217937" cy="832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16"/>
              </a:lnSpc>
            </a:pPr>
            <a:r>
              <a:rPr lang="en-US" sz="5430" spc="298">
                <a:solidFill>
                  <a:srgbClr val="FFFFFF"/>
                </a:solidFill>
                <a:latin typeface="Hit and Run"/>
                <a:ea typeface="Hit and Run"/>
                <a:cs typeface="Hit and Run"/>
                <a:sym typeface="Hit and Run"/>
              </a:rPr>
              <a:t>before’s Venus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93313" y="3122010"/>
            <a:ext cx="9375026" cy="202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37"/>
              </a:lnSpc>
            </a:pPr>
            <a:r>
              <a:rPr lang="en-US" sz="3883" spc="21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Before the Gaseous composition of Before’s Venus was almost the same as the before’s Earth!</a:t>
            </a:r>
          </a:p>
        </p:txBody>
      </p:sp>
    </p:spTree>
  </p:cSld>
  <p:clrMapOvr>
    <a:masterClrMapping/>
  </p:clrMapOvr>
  <p:transition spd="slow">
    <p:fade/>
  </p:transition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25642" y="2438064"/>
            <a:ext cx="4099326" cy="3637430"/>
          </a:xfrm>
          <a:custGeom>
            <a:avLst/>
            <a:gdLst/>
            <a:ahLst/>
            <a:cxnLst/>
            <a:rect r="r" b="b" t="t" l="l"/>
            <a:pathLst>
              <a:path h="3637430" w="4099326">
                <a:moveTo>
                  <a:pt x="0" y="0"/>
                </a:moveTo>
                <a:lnTo>
                  <a:pt x="4099327" y="0"/>
                </a:lnTo>
                <a:lnTo>
                  <a:pt x="4099327" y="3637431"/>
                </a:lnTo>
                <a:lnTo>
                  <a:pt x="0" y="3637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22314" y="6380295"/>
            <a:ext cx="8643371" cy="3471178"/>
          </a:xfrm>
          <a:custGeom>
            <a:avLst/>
            <a:gdLst/>
            <a:ahLst/>
            <a:cxnLst/>
            <a:rect r="r" b="b" t="t" l="l"/>
            <a:pathLst>
              <a:path h="3471178" w="8643371">
                <a:moveTo>
                  <a:pt x="0" y="0"/>
                </a:moveTo>
                <a:lnTo>
                  <a:pt x="8643372" y="0"/>
                </a:lnTo>
                <a:lnTo>
                  <a:pt x="8643372" y="3471178"/>
                </a:lnTo>
                <a:lnTo>
                  <a:pt x="0" y="34711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337" y="1304257"/>
            <a:ext cx="7217937" cy="832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16"/>
              </a:lnSpc>
            </a:pPr>
            <a:r>
              <a:rPr lang="en-US" sz="5430" spc="298">
                <a:solidFill>
                  <a:srgbClr val="FFFFFF"/>
                </a:solidFill>
                <a:latin typeface="Hit and Run"/>
                <a:ea typeface="Hit and Run"/>
                <a:cs typeface="Hit and Run"/>
                <a:sym typeface="Hit and Run"/>
              </a:rPr>
              <a:t>before’s Venus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84274" y="2866018"/>
            <a:ext cx="9375026" cy="2699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37"/>
              </a:lnSpc>
            </a:pPr>
            <a:r>
              <a:rPr lang="en-US" sz="3883" spc="21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surface Temperature before was only very similar. It is considered that Venus used to have liquid oceans like Earth</a:t>
            </a:r>
          </a:p>
        </p:txBody>
      </p:sp>
    </p:spTree>
  </p:cSld>
  <p:clrMapOvr>
    <a:masterClrMapping/>
  </p:clrMapOvr>
  <p:transition spd="slow">
    <p:fade/>
  </p:transition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25642" y="2438064"/>
            <a:ext cx="4099326" cy="3637430"/>
          </a:xfrm>
          <a:custGeom>
            <a:avLst/>
            <a:gdLst/>
            <a:ahLst/>
            <a:cxnLst/>
            <a:rect r="r" b="b" t="t" l="l"/>
            <a:pathLst>
              <a:path h="3637430" w="4099326">
                <a:moveTo>
                  <a:pt x="0" y="0"/>
                </a:moveTo>
                <a:lnTo>
                  <a:pt x="4099327" y="0"/>
                </a:lnTo>
                <a:lnTo>
                  <a:pt x="4099327" y="3637431"/>
                </a:lnTo>
                <a:lnTo>
                  <a:pt x="0" y="3637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84695" y="6519117"/>
            <a:ext cx="11912522" cy="3257422"/>
          </a:xfrm>
          <a:custGeom>
            <a:avLst/>
            <a:gdLst/>
            <a:ahLst/>
            <a:cxnLst/>
            <a:rect r="r" b="b" t="t" l="l"/>
            <a:pathLst>
              <a:path h="3257422" w="11912522">
                <a:moveTo>
                  <a:pt x="0" y="0"/>
                </a:moveTo>
                <a:lnTo>
                  <a:pt x="11912523" y="0"/>
                </a:lnTo>
                <a:lnTo>
                  <a:pt x="11912523" y="3257422"/>
                </a:lnTo>
                <a:lnTo>
                  <a:pt x="0" y="32574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337" y="1304257"/>
            <a:ext cx="7217937" cy="832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16"/>
              </a:lnSpc>
            </a:pPr>
            <a:r>
              <a:rPr lang="en-US" sz="5430" spc="298">
                <a:solidFill>
                  <a:srgbClr val="FFFFFF"/>
                </a:solidFill>
                <a:latin typeface="Hit and Run"/>
                <a:ea typeface="Hit and Run"/>
                <a:cs typeface="Hit and Run"/>
                <a:sym typeface="Hit and Run"/>
              </a:rPr>
              <a:t>before’s Venus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73171" y="3122010"/>
            <a:ext cx="9375026" cy="202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37"/>
              </a:lnSpc>
            </a:pPr>
            <a:r>
              <a:rPr lang="en-US" sz="3883" spc="21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It is believed that according to the Sun’s early period, the Goldilocks zone also contained Venus along with Earth!</a:t>
            </a:r>
          </a:p>
        </p:txBody>
      </p:sp>
    </p:spTree>
  </p:cSld>
  <p:clrMapOvr>
    <a:masterClrMapping/>
  </p:clrMapOvr>
  <p:transition spd="slow">
    <p:fade/>
  </p:transition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25642" y="2438064"/>
            <a:ext cx="4099326" cy="3637430"/>
          </a:xfrm>
          <a:custGeom>
            <a:avLst/>
            <a:gdLst/>
            <a:ahLst/>
            <a:cxnLst/>
            <a:rect r="r" b="b" t="t" l="l"/>
            <a:pathLst>
              <a:path h="3637430" w="4099326">
                <a:moveTo>
                  <a:pt x="0" y="0"/>
                </a:moveTo>
                <a:lnTo>
                  <a:pt x="4099327" y="0"/>
                </a:lnTo>
                <a:lnTo>
                  <a:pt x="4099327" y="3637431"/>
                </a:lnTo>
                <a:lnTo>
                  <a:pt x="0" y="3637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49553" y="6255210"/>
            <a:ext cx="14998644" cy="3681485"/>
          </a:xfrm>
          <a:custGeom>
            <a:avLst/>
            <a:gdLst/>
            <a:ahLst/>
            <a:cxnLst/>
            <a:rect r="r" b="b" t="t" l="l"/>
            <a:pathLst>
              <a:path h="3681485" w="14998644">
                <a:moveTo>
                  <a:pt x="0" y="0"/>
                </a:moveTo>
                <a:lnTo>
                  <a:pt x="14998644" y="0"/>
                </a:lnTo>
                <a:lnTo>
                  <a:pt x="14998644" y="3681485"/>
                </a:lnTo>
                <a:lnTo>
                  <a:pt x="0" y="36814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337" y="1304257"/>
            <a:ext cx="7217937" cy="832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16"/>
              </a:lnSpc>
            </a:pPr>
            <a:r>
              <a:rPr lang="en-US" sz="5430" spc="298">
                <a:solidFill>
                  <a:srgbClr val="FFFFFF"/>
                </a:solidFill>
                <a:latin typeface="Hit and Run"/>
                <a:ea typeface="Hit and Run"/>
                <a:cs typeface="Hit and Run"/>
                <a:sym typeface="Hit and Run"/>
              </a:rPr>
              <a:t>before’s Venus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97936" y="3481613"/>
            <a:ext cx="9375026" cy="1343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37"/>
              </a:lnSpc>
            </a:pPr>
            <a:r>
              <a:rPr lang="en-US" sz="3883" spc="21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All the “Habitable Necessities” were present on the Before’s Venus!</a:t>
            </a:r>
          </a:p>
        </p:txBody>
      </p:sp>
    </p:spTree>
  </p:cSld>
  <p:clrMapOvr>
    <a:masterClrMapping/>
  </p:clrMapOvr>
  <p:transition spd="slow">
    <p:fade/>
  </p:transition>
</p:sld>
</file>

<file path=ppt/slides/slide3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051574" y="5105400"/>
            <a:ext cx="887290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4084589" y="4520187"/>
            <a:ext cx="10389888" cy="585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30"/>
              </a:lnSpc>
            </a:pPr>
            <a:r>
              <a:rPr lang="en-US" sz="4219" spc="232">
                <a:solidFill>
                  <a:srgbClr val="FFFFFF"/>
                </a:solidFill>
                <a:latin typeface="Hit and Run"/>
                <a:ea typeface="Hit and Run"/>
                <a:cs typeface="Hit and Run"/>
                <a:sym typeface="Hit and Run"/>
              </a:rPr>
              <a:t>So Here i end this story!</a:t>
            </a:r>
          </a:p>
        </p:txBody>
      </p:sp>
    </p:spTree>
  </p:cSld>
  <p:clrMapOvr>
    <a:masterClrMapping/>
  </p:clrMapOvr>
  <p:transition spd="slow">
    <p:fade/>
  </p:transition>
</p:sld>
</file>

<file path=ppt/slides/slide39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4916040" y="5105400"/>
            <a:ext cx="9008437" cy="3810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3949056" y="4558287"/>
            <a:ext cx="10389888" cy="585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30"/>
              </a:lnSpc>
            </a:pPr>
            <a:r>
              <a:rPr lang="en-US" sz="4219" spc="232">
                <a:solidFill>
                  <a:srgbClr val="FFFFFF"/>
                </a:solidFill>
                <a:latin typeface="Hit and Run"/>
                <a:ea typeface="Hit and Run"/>
                <a:cs typeface="Hit and Run"/>
                <a:sym typeface="Hit and Run"/>
              </a:rPr>
              <a:t>So Here i end this story!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29767" y="6246734"/>
            <a:ext cx="10389888" cy="585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30"/>
              </a:lnSpc>
            </a:pPr>
            <a:r>
              <a:rPr lang="en-US" sz="4219" spc="232">
                <a:solidFill>
                  <a:srgbClr val="FFFFFF"/>
                </a:solidFill>
                <a:latin typeface="Hit and Run"/>
                <a:ea typeface="Hit and Run"/>
                <a:cs typeface="Hit and Run"/>
                <a:sym typeface="Hit and Run"/>
              </a:rPr>
              <a:t>Hope it was fun!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DAHCmi2vBZM</dc:identifier>
  <dcterms:modified xsi:type="dcterms:W3CDTF">2011-08-01T06:04:30Z</dcterms:modified>
  <cp:revision>1</cp:revision>
  <dc:title>Southern Hemisphere Astronomy in Blue Photographic Style</dc:title>
</cp:coreProperties>
</file>